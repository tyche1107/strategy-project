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91440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Funding Rate Contrarian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3D3"/>
                </a:solidFill>
                <a:latin typeface="Arial"/>
              </a:defRPr>
            </a:pPr>
            <a:r>
              <a:t>BTC-USDT Perpetual Futures on Binance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Adeline Wen</a:t>
            </a:r>
            <a:br/>
            <a:r>
              <a:t>CFRM 522 — Winter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Problem &amp; Hypothesis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B2E83"/>
                </a:solidFill>
                <a:latin typeface="Arial"/>
              </a:defRPr>
            </a:pPr>
            <a:r>
              <a:t>Economic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Perpetual futures: funding paid every 8h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0.01% baseline ≈ 13% annualized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Extreme funding (0.05%+) → 65%+ annualized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Crowded longs exit → price decline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Brunnermeier &amp; Pedersen (2009): funding liquidity spiral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B2E83"/>
                </a:solidFill>
                <a:latin typeface="Arial"/>
              </a:defRPr>
            </a:pPr>
            <a:r>
              <a:t>Pre-committed Hypotheses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6459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H1: Extreme z-score → 24h reversal (IC &gt; 0.02)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H2: High OI amplifies signal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H3: Optimal threshold is non-linear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H4: OOS Calmar positive (WF ratio &gt; 0.5)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114800"/>
            <a:ext cx="10972800" cy="914400"/>
          </a:xfrm>
          <a:prstGeom prst="roundRect">
            <a:avLst/>
          </a:prstGeom>
          <a:solidFill>
            <a:srgbClr val="E8E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B2E83"/>
                </a:solidFill>
                <a:latin typeface="Arial"/>
              </a:defRPr>
            </a:pPr>
            <a:r>
              <a:t>Strategy: Short when z &gt; threshold, Long when z &lt; -threshold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Objective: Calmar Ratio (not Sharpe)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BTC returns: excess kurtosis &gt; 20 → Sharpe assumes normality, inappropriate here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Data: Funding Rate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fundin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30447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Heavy tails (kurtosis &gt; 10) • Slight positive skew (longs dominate) • NOT normally distributed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Data: Autocorrelation &amp; Seasonality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funding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852160" cy="1642958"/>
          </a:xfrm>
          <a:prstGeom prst="rect">
            <a:avLst/>
          </a:prstGeom>
        </p:spPr>
      </p:pic>
      <p:pic>
        <p:nvPicPr>
          <p:cNvPr id="6" name="Picture 5" descr="fig_funding_seas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852160" cy="17692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Left: ACF significant at lags 1-3 → short-term persistence, then decay (mean reversion)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Right: No strong weekday effect — funding driven by market sentiment, not calendar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Data: BTC Price &amp; Funding Rate (2020-2024)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11795760" cy="3874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Major events: March 2020 crash • May 2021 selloff • LUNA collapse (May 2022) • FTX collapse (Nov 2022)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Indicator Testing: Information Coefficient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ic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11795760" cy="30874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Negative slope: higher z-score → lower forward return • H1 SUPPORTED: IC statistically significant at 24h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Signal Processing: Timeline (2021-2023)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signal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62541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Green: Long signals (z &lt; -1.5) • Red: Short signals (z &gt; 1.5) • Signals cluster around extreme funding events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Trading Rules: Incremental Equity Curves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equity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79042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Rule 0: Basic • Rule 1: +Max hold • Rule 2: +Stop loss • Rule 3: +OI filter • Gray: BTC buy-and-hold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Parameter Optimization: Grid 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gridsearch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4086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Left: Threshold vs Window heatmap • Right: Pardo check — best not extreme outlier • H3 SUPPORTED: peaked, not corner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Parameter Optimization: Sensitivity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11795760" cy="3089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Flat curve = robust to parameter choice • Sharp peak = potential overfit • Threshold most sensitive parameter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Walk-Forward Analysis (Out-of-Sample)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walk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77202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333333"/>
                </a:solidFill>
                <a:latin typeface="Arial"/>
              </a:defRPr>
            </a:pPr>
            <a:r>
              <a:t>Most OOS windows positive • WF ratio ~0.3-0.6 • Parameter drift suggests regime dependence • H4 PARTIALLY SUPPORTED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Overfitting: Bootstrap Sharpe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bootstrap_shar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229600" cy="36096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Deflated Sharpe Ratio (DSR)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Accounts for 120+ parameter trials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DSR adjusts for selection bias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Wide CI reflects sample uncertainty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Top-N Removal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949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Remove best 20 trades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Still profitable → distributed edge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Not outlier-driven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Extension: Cross-Asset &amp; ETH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cross_asset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486400" cy="2711336"/>
          </a:xfrm>
          <a:prstGeom prst="rect">
            <a:avLst/>
          </a:prstGeom>
        </p:spPr>
      </p:pic>
      <p:pic>
        <p:nvPicPr>
          <p:cNvPr id="6" name="Picture 5" descr="fig_extension_equ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051560"/>
            <a:ext cx="5943600" cy="19523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Left: BTC-ETH funding correlation ~0.7+ (macro-driven, limited diversification)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Right: ETH positive Calmar with BTC-optimized params (no re-fitting) → genuine microstructure effect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B2E83"/>
                </a:solidFill>
                <a:latin typeface="Arial"/>
              </a:defRPr>
            </a:pPr>
            <a:r>
              <a:t>Key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Funding rate contrarian effect is real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Economic basis: crowding + margin pressure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IC statistically significant at 24h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OOS performance positive (40-60% degradation typical)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Cross-asset validation on ETH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B2E83"/>
                </a:solidFill>
                <a:latin typeface="Arial"/>
              </a:defRPr>
            </a:pPr>
            <a:r>
              <a:t>Backtest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6459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Calmar Ratio: ~0.11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Sharpe Ratio: ~0.77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Max Drawdown: ~14%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Win Rate: ~54%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Total Trades: ~125 (2020-2024)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B2E83"/>
                </a:solidFill>
                <a:latin typeface="Arial"/>
              </a:defRPr>
            </a:pPr>
            <a:r>
              <a:t>Risks &amp;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Tail events: LUNA-style collapse where funding stays extreme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Regime dependence: better in high-volatility periods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Market structure change post-FTX may reduce future effectiveness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Arial"/>
              </a:defRPr>
            </a:pPr>
            <a:r>
              <a:t>Crowding risk if strategy becomes widely known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Bailey, D. H., &amp; Lopez de Prado, M. (2014). The Deflated Sharpe Ratio.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       Journal of Portfolio Management, 40(5), 94-107.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Brunnermeier, M. K., &amp; Pedersen, L. H. (2009). Market Liquidity and Funding Liquidity.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       Review of Financial Studies, 22(6), 2201-2238.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Pardo, R. (2008). The Evaluation and Optimization of Trading Strategies.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       John Wiley &amp; Sons.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Shleifer, A., &amp; Vishny, R. W. (1997). The Limits of Arbitrage.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       Journal of Finance, 52(1), 35-55.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Liu, Y., Tsyvinski, A., &amp; Wu, X. (2022). Common Risk Factors in Cryptocurrency.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333333"/>
                </a:solidFill>
                <a:latin typeface="Arial"/>
              </a:defRPr>
            </a:pPr>
            <a:r>
              <a:t>       Journal of Finance, 77(2), 1133-1177.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