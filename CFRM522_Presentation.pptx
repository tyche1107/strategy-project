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2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9144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Funding Rate Contrarian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E3D3"/>
                </a:solidFill>
                <a:latin typeface="Arial"/>
              </a:defRPr>
            </a:pPr>
            <a:r>
              <a:t>BTC-USDT Perpetual Futures on Binance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Adeline Wen</a:t>
            </a:r>
            <a:br/>
            <a:r>
              <a:t>CFRM 522 — Winter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Problem &amp; Hypothesis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Economic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Perpetual futures: funding paid every 8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0.01% baseline ≈ 13% annualized cost to longs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Extreme funding (0.05%+) → 65%+ annualized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Crowded longs exit → price decline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Hypotheses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H1: Extreme z-score predicts 24h reversal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H2: High OI amplifies signal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H3: Optimal threshold is non-linear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H4: OOS Calmar positive (WF ratio &gt; 0.5)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0972800" cy="1097280"/>
          </a:xfrm>
          <a:prstGeom prst="roundRect">
            <a:avLst/>
          </a:prstGeom>
          <a:solidFill>
            <a:srgbClr val="E8E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B2E83"/>
                </a:solidFill>
                <a:latin typeface="Arial"/>
              </a:defRPr>
            </a:pPr>
            <a:r>
              <a:t>Strategy: Fade extreme funding — short when z &gt; threshold, long when z &lt; -threshold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Data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BTC-USDT perpetual (Binance)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Funding rates: every 8h, 2020-2024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OHLCV: hourly price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~5,500 funding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Leverage: 1x (no liquidation risk)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Fee: 0.04% taker each side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Max hold: 48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  <a:latin typeface="Arial"/>
              </a:defRPr>
            </a:pPr>
            <a:r>
              <a:t>Objective: Calmar ratio (not Sharpe)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Why Calmar over Sharpe?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BTC returns: excess kurtosis &gt; 20, heavy tails violate normality assumption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Calmar = Ann. Return / Max Drawdown — directly penalizes worst-case loss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More relevant for leveraged crypto where one bad period can wipe account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Indicator Testing (Section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Information Coefficient (IC)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Funding Z-Score (90d window):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8h horizon:  IC = -0.02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24h horizon: IC = -0.03 (p &lt; 0.05)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48h horizon: IC = -0.025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Negative IC confirms contrarian hypothesis: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Higher z-score → lower forward 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H1 &amp; H2 Test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H1: IC &gt; 0.02 at 24h ✓ SUPPORTED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Statistically significant (p &lt; 0.05)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H2: OI amplification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IC(high OI) &gt; IC(low OI)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Result varies by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[See notebook: fig_ic_scatter.png — Z-Score vs Forward Return scatter plots]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Trading Rules (Section 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Incremental Rule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Rule 0: Basic signal, 8h hold          → Baseline Calmar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Rule 1: + Max 48h hold cap             → Slight improvement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Rule 2: + 0.5% stop loss               → Reduced drawdown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Rule 3: + OI/volume filter             → Fewer trades, better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Backtest Results (Full Period)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Calmar Ratio: ~0.11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Sharpe Ratio: ~0.77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Max Drawdown: ~14%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Win Rate: ~54%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Total Trades: ~125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vs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389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BTC Buy-and-Hold: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Much higher return in bull markets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But 70%+ max drawdown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Strategy: Lower return, better risk-adjusted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Parameter Optimization (Section 7)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Grid Search (120 combinations)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Parameters tested: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Threshold: [1.0, 1.2, 1.5, 1.8, 2.0]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Window: [60, 90, 120] periods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Hold hours: [4, 8, 16, 24, 48]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Stop loss: [None, 0.5%]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Optimal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Best Calmar configuration: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Threshold: ~1.5-2.0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Window: ~60-90 periods (20-30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Hold: 8-16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H3: Non-monotonic threshold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B2E83"/>
                </a:solidFill>
                <a:latin typeface="Arial"/>
              </a:defRPr>
            </a:pPr>
            <a:r>
              <a:t>Pardo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Best Calmar ~2 std above mean → Not extreme outlier, reduces overfit concern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Walk-Forward &amp; Overfitting (Sections 8-9)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Walk-Forward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Rolling WF: 365-day train, 90-day 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Anchored WF: Expanding window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WF Ratio: ~0.3-0.6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Most OOS windows positive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   • H4: Partially supported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Overfitting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Deflated Sharpe Ratio (DSR):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   Accounts for 120+ trials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   DSR indicates some selection bias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Bootstrap Sharpe CI: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   Wide interval reflects uncertainty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  <a:latin typeface="Arial"/>
              </a:defRPr>
            </a:pPr>
            <a:r>
              <a:t>Top-N Removal: Still positive after removing best 20 trades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0972800" cy="914400"/>
          </a:xfrm>
          <a:prstGeom prst="roundRect">
            <a:avLst/>
          </a:prstGeom>
          <a:solidFill>
            <a:srgbClr val="E8E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2E83"/>
                </a:solidFill>
                <a:latin typeface="Arial"/>
              </a:defRPr>
            </a:pPr>
            <a:r>
              <a:t>40-60% OOS degradation from IS is typical. Signal appears real but magnitude uncertain.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Funding rate contrarian effect is real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Economic mechanism: crowding + margin pressure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OOS performance positive but degraded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Regime-dependent (better in volatile periods)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Extension (Section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ETH cross-asset: Positive Calmar without re-fit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BTC-ETH funding correlation: ~0.7+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Calmar vs Sortino: Similar optimal params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Bear markets: Strategy performs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B2E83"/>
                </a:solidFill>
                <a:latin typeface="Arial"/>
              </a:defRPr>
            </a:pPr>
            <a:r>
              <a:t>Risks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Tail events (LUNA-style collapse) — funding stays extreme for extended periods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Market structure changes post-FTX may reduce future effectiveness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333333"/>
                </a:solidFill>
                <a:latin typeface="Arial"/>
              </a:defRPr>
            </a:pPr>
            <a:r>
              <a:t>Crowding risk if strategy becomes widely known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B7A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Bailey, D. H., &amp; Lopez de Prado, M. (2014). The Deflated Sharpe Ratio.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       Journal of Portfolio Management, 40(5), 94-107.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Brunnermeier, M. K., &amp; Pedersen, L. H. (2009). Market Liquidity and Funding Liquidity.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       Review of Financial Studies, 22(6), 2201-2238.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Pardo, R. (2008). The Evaluation and Optimization of Trading Strategies.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       John Wiley &amp; Sons.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Shleifer, A., &amp; Vishny, R. W. (1997). The Limits of Arbitrage.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       Journal of Finance, 52(1), 35-55.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Liu, Y., Tsyvinski, A., &amp; Wu, X. (2022). Common Risk Factors in Cryptocurrency.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Arial"/>
              </a:defRPr>
            </a:pPr>
            <a:r>
              <a:t>       Journal of Finance, 77(2), 1133-1177.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