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743200"/>
            <a:ext cx="10698480" cy="5486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Arial"/>
              </a:defRPr>
            </a:pPr>
            <a:r>
              <a:t>Funding Rate Contrarian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E8E3D3"/>
                </a:solidFill>
                <a:latin typeface="Arial"/>
              </a:defRPr>
            </a:pPr>
            <a:r>
              <a:t>BTC-USDT Perpetual Futures | Binance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Arial"/>
              </a:defRPr>
            </a:pPr>
            <a:r>
              <a:t>Adeline Wen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3D3"/>
                </a:solidFill>
                <a:latin typeface="Arial"/>
              </a:defRPr>
            </a:pPr>
            <a:r>
              <a:t>CFRM 522 · Winter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Problem &amp;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Economic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Perpetual futures: funding paid every 8 hours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Baseline 0.01% ≈ 13% annualized cost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Extreme 0.05%+ → 65%+ annualized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Crowded longs forced to exit → price drops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Brunnermeier &amp; Pedersen (2009): liquidity spiral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Pre-committed Hypotheses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087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H1: |z-score| &gt; 1.5 predicts 24h reversal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H2: High OI change amplifies signal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H3: Threshold-Calmar is non-monotonic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H4: WF ratio &gt; 0.5 (OOS positive)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06240"/>
            <a:ext cx="11247120" cy="822960"/>
          </a:xfrm>
          <a:prstGeom prst="roundRect">
            <a:avLst/>
          </a:prstGeom>
          <a:solidFill>
            <a:srgbClr val="E8E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B2E83"/>
                </a:solidFill>
                <a:latin typeface="Arial"/>
              </a:defRPr>
            </a:pPr>
            <a:r>
              <a:t>Strategy: Short when z &gt; threshold  |  Long when z &lt; -threshold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Objective: Calmar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69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Arial"/>
              </a:defRPr>
            </a:pPr>
            <a:r>
              <a:t>BTC has excess kurtosis &gt; 20 — Sharpe assumes normality, Calmar penalizes max drawdown directly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Data: Funding Rate Distribution</a:t>
            </a:r>
          </a:p>
        </p:txBody>
      </p:sp>
      <p:pic>
        <p:nvPicPr>
          <p:cNvPr id="5" name="Picture 4" descr="fig_fundin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29967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Heavy tails (kurtosis &gt; 10)  •  Positive skew (longs dominate)  •  Non-normal → justifies Calmar over Sharpe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Data: Autocorrelation &amp; Seasonality</a:t>
            </a:r>
          </a:p>
        </p:txBody>
      </p:sp>
      <p:pic>
        <p:nvPicPr>
          <p:cNvPr id="5" name="Picture 4" descr="fig_funding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760720" cy="1617287"/>
          </a:xfrm>
          <a:prstGeom prst="rect">
            <a:avLst/>
          </a:prstGeom>
        </p:spPr>
      </p:pic>
      <p:pic>
        <p:nvPicPr>
          <p:cNvPr id="6" name="Picture 5" descr="fig_funding_seas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05840"/>
            <a:ext cx="5760720" cy="17416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ACF decays after lag 3 → supports mean reversion  •  No weekday effect → sentiment-driven, not calendar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Data: BTC Price &amp; Funding Rate (2020-2024)</a:t>
            </a:r>
          </a:p>
        </p:txBody>
      </p:sp>
      <p:pic>
        <p:nvPicPr>
          <p:cNvPr id="5" name="Picture 4" descr="fig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3814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Key events: March 2020 crash  •  May 2021 selloff  •  LUNA (May 2022)  •  FTX (Nov 2022)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Indicator Testing: Information Coefficient (IC)</a:t>
            </a:r>
          </a:p>
        </p:txBody>
      </p:sp>
      <p:pic>
        <p:nvPicPr>
          <p:cNvPr id="5" name="Picture 4" descr="fig_ic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30396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Negative slope confirms contrarian hypothesis  •  H1 SUPPORTED: IC significant at 24h horizon (p &lt; 0.05)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Signal Processing: Timeline (2021-2023)</a:t>
            </a:r>
          </a:p>
        </p:txBody>
      </p:sp>
      <p:pic>
        <p:nvPicPr>
          <p:cNvPr id="5" name="Picture 4" descr="fig_signal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61571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Green = Long (z &lt; -1.5)  •  Red = Short (z &gt; 1.5)  •  Signals cluster around extreme funding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Trading Rules: Incremental Equity Curves</a:t>
            </a:r>
          </a:p>
        </p:txBody>
      </p:sp>
      <p:pic>
        <p:nvPicPr>
          <p:cNvPr id="5" name="Picture 4" descr="fig_equity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7779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Rule 0: Basic  →  Rule 1: +Max hold  →  Rule 2: +Stop loss  →  Rule 3: +OI filter  •  Gray: BTC buy-and-hold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Parameter Optimization: Grid Search (120 combinations)</a:t>
            </a:r>
          </a:p>
        </p:txBody>
      </p:sp>
      <p:pic>
        <p:nvPicPr>
          <p:cNvPr id="5" name="Picture 4" descr="fig_gridsearch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11430000" cy="40224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Left: Threshold × Window heatmap  •  Right: Pardo check (best not extreme outlier)  •  H3 SUPPORTED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Parameter Optimization: Sensitivity Analysis</a:t>
            </a:r>
          </a:p>
        </p:txBody>
      </p:sp>
      <p:pic>
        <p:nvPicPr>
          <p:cNvPr id="5" name="Picture 4" descr="fig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30413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Flat = robust to choice  •  Sharp peak = overfit risk  •  Threshold is most sensitive parameter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Walk-Forward Analysis (Out-of-Sample)</a:t>
            </a:r>
          </a:p>
        </p:txBody>
      </p:sp>
      <p:pic>
        <p:nvPicPr>
          <p:cNvPr id="5" name="Picture 4" descr="fig_walk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11430000" cy="75986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Arial"/>
              </a:defRPr>
            </a:pPr>
            <a:r>
              <a:t>Most OOS windows positive  •  WF ratio 0.3-0.6  •  Parameter drift → regime dependence  •  H4 PARTIALLY SUPPORTED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Overfitting Diagnostics</a:t>
            </a:r>
          </a:p>
        </p:txBody>
      </p:sp>
      <p:pic>
        <p:nvPicPr>
          <p:cNvPr id="5" name="Picture 4" descr="fig_bootstrap_shar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858000" cy="30080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Deflated Sharpe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50876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Accounts for 120+ trials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Adjusts for selection bias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Wide CI reflects uncertainty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Top-N Removal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70332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Remove best 20 trades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Still profitable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500">
                <a:solidFill>
                  <a:srgbClr val="2D2D2D"/>
                </a:solidFill>
                <a:latin typeface="Arial"/>
              </a:defRPr>
            </a:pPr>
            <a:r>
              <a:t>• Edge is distributed, not outlier-driven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PBO Cross-Test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56692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Arial"/>
              </a:defRPr>
            </a:pPr>
            <a:r>
              <a:t>Half-sample optimization shows moderate parameter stability across time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Extension: Cross-Asset Validation</a:t>
            </a:r>
          </a:p>
        </p:txBody>
      </p:sp>
      <p:pic>
        <p:nvPicPr>
          <p:cNvPr id="5" name="Picture 4" descr="fig_cross_asset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303520" cy="2620958"/>
          </a:xfrm>
          <a:prstGeom prst="rect">
            <a:avLst/>
          </a:prstGeom>
        </p:spPr>
      </p:pic>
      <p:pic>
        <p:nvPicPr>
          <p:cNvPr id="6" name="Picture 5" descr="fig_extension_equ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005840"/>
            <a:ext cx="6126480" cy="2012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Arial"/>
              </a:defRPr>
            </a:pPr>
            <a:r>
              <a:t>BTC-ETH correlation ~0.7+ (macro-driven)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50292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Arial"/>
              </a:defRPr>
            </a:pPr>
            <a:r>
              <a:t>ETH positive Calmar with BTC params (no re-fit) → genuine effect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669280"/>
            <a:ext cx="11247120" cy="640080"/>
          </a:xfrm>
          <a:prstGeom prst="roundRect">
            <a:avLst/>
          </a:prstGeom>
          <a:solidFill>
            <a:srgbClr val="E8E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B2E83"/>
                </a:solidFill>
                <a:latin typeface="Arial"/>
              </a:defRPr>
            </a:pPr>
            <a:r>
              <a:t>Cross-asset validation confirms: funding rate contrarian is a market microstructure effect, not BTC-specific noise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Funding contrarian effect is real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Economic basis: crowding + margin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IC significant at 24h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OOS positive (40-60% degradation)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Cross-asset validated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Backtest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08760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Calmar: ~0.11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Sharpe: ~0.77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Max DD: ~14%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Win Rate: ~54%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Trades: ~125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Hypothesis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508760"/>
            <a:ext cx="3657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H1: ✓ Supported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H2: ~ Mixed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H3: ✓ Supported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H4: ~ Partial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B2E83"/>
                </a:solidFill>
                <a:latin typeface="Arial"/>
              </a:defRPr>
            </a:pPr>
            <a:r>
              <a:t>Risks &amp;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1772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Tail events: LUNA-style collapse where funding stays extreme for extended periods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Regime dependence: strategy performs better in high-volatility periods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Market structure shift: post-FTX changes may reduce future effectiveness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Crowding risk: if strategy becomes widely known, edge may disappear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32004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Bailey, D. H., &amp; Lopez de Prado, M. (2014). The Deflated Sharpe Ratio.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Journal of Portfolio Management, 40(5), 94-107.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Brunnermeier, M. K., &amp; Pedersen, L. H. (2009). Market Liquidity and Funding Liquidity.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Review of Financial Studies, 22(6), 2201-2238.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Liu, Y., Tsyvinski, A., &amp; Wu, X. (2022). Common Risk Factors in Cryptocurrency.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Journal of Finance, 77(2), 1133-1177.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Pardo, R. (2008). The Evaluation and Optimization of Trading Strategies. Wiley.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Shleifer, A., &amp; Vishny, R. W. (1997). The Limits of Arbitrage.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Journal of Finance, 52(1), 35-55.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