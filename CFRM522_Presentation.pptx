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B2E8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2743200"/>
            <a:ext cx="10698480" cy="45720"/>
          </a:xfrm>
          <a:prstGeom prst="rect">
            <a:avLst/>
          </a:prstGeom>
          <a:solidFill>
            <a:srgbClr val="B7A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600" b="1">
                <a:solidFill>
                  <a:srgbClr val="FFFFFF"/>
                </a:solidFill>
                <a:latin typeface="Arial"/>
              </a:defRPr>
            </a:pPr>
            <a:r>
              <a:t>Funding Rate Contrarian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017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E8E3D3"/>
                </a:solidFill>
                <a:latin typeface="Arial"/>
              </a:defRPr>
            </a:pPr>
            <a:r>
              <a:t>BTC-USDT Perpetual Futures | Binance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9377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Arial"/>
              </a:defRPr>
            </a:pPr>
            <a:r>
              <a:t>Adeline Wen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3949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8E3D3"/>
                </a:solidFill>
                <a:latin typeface="Arial"/>
              </a:defRPr>
            </a:pPr>
            <a:r>
              <a:t>CFRM 522 · Winter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27432"/>
          </a:xfrm>
          <a:prstGeom prst="rect">
            <a:avLst/>
          </a:prstGeom>
          <a:solidFill>
            <a:srgbClr val="B7A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0116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rial"/>
              </a:defRPr>
            </a:pPr>
            <a:r>
              <a:t>Problem &amp; Hypothesis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4B2E83"/>
                </a:solidFill>
                <a:latin typeface="Arial"/>
              </a:defRPr>
            </a:pPr>
            <a:r>
              <a:t>Economic Mechanism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53035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400">
                <a:solidFill>
                  <a:srgbClr val="2D2D2D"/>
                </a:solidFill>
                <a:latin typeface="Arial"/>
              </a:defRPr>
            </a:pPr>
            <a:r>
              <a:t>• Perpetual futures: funding paid every 8 hours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400">
                <a:solidFill>
                  <a:srgbClr val="2D2D2D"/>
                </a:solidFill>
                <a:latin typeface="Arial"/>
              </a:defRPr>
            </a:pPr>
            <a:r>
              <a:t>• Baseline 0.01% ≈ 13% annualized cost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400">
                <a:solidFill>
                  <a:srgbClr val="2D2D2D"/>
                </a:solidFill>
                <a:latin typeface="Arial"/>
              </a:defRPr>
            </a:pPr>
            <a:r>
              <a:t>• Extreme 0.05%+ → 65%+ annualized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400">
                <a:solidFill>
                  <a:srgbClr val="2D2D2D"/>
                </a:solidFill>
                <a:latin typeface="Arial"/>
              </a:defRPr>
            </a:pPr>
            <a:r>
              <a:t>• Crowded longs forced to exit → price drops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400">
                <a:solidFill>
                  <a:srgbClr val="2D2D2D"/>
                </a:solidFill>
                <a:latin typeface="Arial"/>
              </a:defRPr>
            </a:pPr>
            <a:r>
              <a:t>• Brunnermeier &amp; Pedersen (2009): liquidity spiral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0058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4B2E83"/>
                </a:solidFill>
                <a:latin typeface="Arial"/>
              </a:defRPr>
            </a:pPr>
            <a:r>
              <a:t>Pre-committed Hypotheses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371600"/>
            <a:ext cx="5486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400">
                <a:solidFill>
                  <a:srgbClr val="2D2D2D"/>
                </a:solidFill>
                <a:latin typeface="Arial"/>
              </a:defRPr>
            </a:pPr>
            <a:r>
              <a:t>• H1: |z-score| &gt; 1.5 predicts 24h reversal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400">
                <a:solidFill>
                  <a:srgbClr val="2D2D2D"/>
                </a:solidFill>
                <a:latin typeface="Arial"/>
              </a:defRPr>
            </a:pPr>
            <a:r>
              <a:t>• H2: High OI change amplifies signal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400">
                <a:solidFill>
                  <a:srgbClr val="2D2D2D"/>
                </a:solidFill>
                <a:latin typeface="Arial"/>
              </a:defRPr>
            </a:pPr>
            <a:r>
              <a:t>• H3: Threshold-Calmar is non-monotonic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400">
                <a:solidFill>
                  <a:srgbClr val="2D2D2D"/>
                </a:solidFill>
                <a:latin typeface="Arial"/>
              </a:defRPr>
            </a:pPr>
            <a:r>
              <a:t>• H4: WF ratio &gt; 0.5 (OOS positive)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3931920"/>
            <a:ext cx="11430000" cy="731520"/>
          </a:xfrm>
          <a:prstGeom prst="roundRect">
            <a:avLst/>
          </a:prstGeom>
          <a:solidFill>
            <a:srgbClr val="E8E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4114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4B2E83"/>
                </a:solidFill>
                <a:latin typeface="Arial"/>
              </a:defRPr>
            </a:pPr>
            <a:r>
              <a:t>Strategy: Short when z &gt; threshold  |  Long when z &lt; -threshold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49377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4B2E83"/>
                </a:solidFill>
                <a:latin typeface="Arial"/>
              </a:defRPr>
            </a:pPr>
            <a:r>
              <a:t>Objective: Calmar Ratio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5303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  <a:latin typeface="Arial"/>
              </a:defRPr>
            </a:pPr>
            <a:r>
              <a:t>BTC excess kurtosis &gt; 20 — Sharpe assumes normality; Calmar penalizes max drawdown directly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27432"/>
          </a:xfrm>
          <a:prstGeom prst="rect">
            <a:avLst/>
          </a:prstGeom>
          <a:solidFill>
            <a:srgbClr val="B7A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0116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rial"/>
              </a:defRPr>
            </a:pPr>
            <a:r>
              <a:t>Data: Funding Rate Distribution</a:t>
            </a:r>
          </a:p>
        </p:txBody>
      </p:sp>
      <p:pic>
        <p:nvPicPr>
          <p:cNvPr id="5" name="Picture 4" descr="fig_funding_d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47120" cy="29488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217920"/>
            <a:ext cx="114601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66666"/>
                </a:solidFill>
                <a:latin typeface="Arial"/>
              </a:defRPr>
            </a:pPr>
            <a:r>
              <a:t>Heavy tails (kurtosis &gt; 10)  •  Positive skew (longs dominate)  •  Non-normal → justifies Calmar over Sharpe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27432"/>
          </a:xfrm>
          <a:prstGeom prst="rect">
            <a:avLst/>
          </a:prstGeom>
          <a:solidFill>
            <a:srgbClr val="B7A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0116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rial"/>
              </a:defRPr>
            </a:pPr>
            <a:r>
              <a:t>Data: Autocorrelation &amp; Seasonality</a:t>
            </a:r>
          </a:p>
        </p:txBody>
      </p:sp>
      <p:pic>
        <p:nvPicPr>
          <p:cNvPr id="5" name="Picture 4" descr="fig_funding_a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669280" cy="1591615"/>
          </a:xfrm>
          <a:prstGeom prst="rect">
            <a:avLst/>
          </a:prstGeom>
        </p:spPr>
      </p:pic>
      <p:pic>
        <p:nvPicPr>
          <p:cNvPr id="6" name="Picture 5" descr="fig_funding_seaso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097280"/>
            <a:ext cx="5669280" cy="17139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0292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Arial"/>
              </a:defRPr>
            </a:pPr>
            <a:r>
              <a:t>ACF decays after lag 3 → mean reversion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50292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Arial"/>
              </a:defRPr>
            </a:pPr>
            <a:r>
              <a:t>No weekday effect → sentiment-driven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27432"/>
          </a:xfrm>
          <a:prstGeom prst="rect">
            <a:avLst/>
          </a:prstGeom>
          <a:solidFill>
            <a:srgbClr val="B7A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0116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rial"/>
              </a:defRPr>
            </a:pPr>
            <a:r>
              <a:t>Data: BTC Price &amp; Funding Rate (2020-2024)</a:t>
            </a:r>
          </a:p>
        </p:txBody>
      </p:sp>
      <p:pic>
        <p:nvPicPr>
          <p:cNvPr id="5" name="Picture 4" descr="fig_ev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612880" cy="3814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217920"/>
            <a:ext cx="114601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66666"/>
                </a:solidFill>
                <a:latin typeface="Arial"/>
              </a:defRPr>
            </a:pPr>
            <a:r>
              <a:t>Key events: March 2020 crash  •  May 2021 selloff  •  LUNA (May 2022)  •  FTX (Nov 2022)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27432"/>
          </a:xfrm>
          <a:prstGeom prst="rect">
            <a:avLst/>
          </a:prstGeom>
          <a:solidFill>
            <a:srgbClr val="B7A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0116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rial"/>
              </a:defRPr>
            </a:pPr>
            <a:r>
              <a:t>Indicator Testing: Information Coefficient (IC)</a:t>
            </a:r>
          </a:p>
        </p:txBody>
      </p:sp>
      <p:pic>
        <p:nvPicPr>
          <p:cNvPr id="5" name="Picture 4" descr="fig_ic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612880" cy="30396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217920"/>
            <a:ext cx="114601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66666"/>
                </a:solidFill>
                <a:latin typeface="Arial"/>
              </a:defRPr>
            </a:pPr>
            <a:r>
              <a:t>Negative slope confirms contrarian hypothesis  •  H1 SUPPORTED: IC significant at 24h (p &lt; 0.05)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27432"/>
          </a:xfrm>
          <a:prstGeom prst="rect">
            <a:avLst/>
          </a:prstGeom>
          <a:solidFill>
            <a:srgbClr val="B7A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0116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rial"/>
              </a:defRPr>
            </a:pPr>
            <a:r>
              <a:t>Signal Processing: Timeline (2021-2023)</a:t>
            </a:r>
          </a:p>
        </p:txBody>
      </p:sp>
      <p:pic>
        <p:nvPicPr>
          <p:cNvPr id="5" name="Picture 4" descr="fig_signal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05840"/>
            <a:ext cx="8623139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217920"/>
            <a:ext cx="114601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66666"/>
                </a:solidFill>
                <a:latin typeface="Arial"/>
              </a:defRPr>
            </a:pPr>
            <a:r>
              <a:t>Green = Long (z &lt; -1.5)  •  Red = Short (z &gt; 1.5)  •  Signals cluster around extreme events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27432"/>
          </a:xfrm>
          <a:prstGeom prst="rect">
            <a:avLst/>
          </a:prstGeom>
          <a:solidFill>
            <a:srgbClr val="B7A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0116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rial"/>
              </a:defRPr>
            </a:pPr>
            <a:r>
              <a:t>Trading Rules: Incremental Equity Curves</a:t>
            </a:r>
          </a:p>
        </p:txBody>
      </p:sp>
      <p:pic>
        <p:nvPicPr>
          <p:cNvPr id="5" name="Picture 4" descr="fig_equity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6717121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217920"/>
            <a:ext cx="114601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66666"/>
                </a:solidFill>
                <a:latin typeface="Arial"/>
              </a:defRPr>
            </a:pPr>
            <a:r>
              <a:t>Rule 0: Basic → Rule 1: +Max hold → Rule 2: +Stop loss → Rule 3: +OI filter  •  Gray: BTC buy-hold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27432"/>
          </a:xfrm>
          <a:prstGeom prst="rect">
            <a:avLst/>
          </a:prstGeom>
          <a:solidFill>
            <a:srgbClr val="B7A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0116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rial"/>
              </a:defRPr>
            </a:pPr>
            <a:r>
              <a:t>Parameter Optimization: Grid Search (120 combinations)</a:t>
            </a:r>
          </a:p>
        </p:txBody>
      </p:sp>
      <p:pic>
        <p:nvPicPr>
          <p:cNvPr id="5" name="Picture 4" descr="fig_gridsearch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05840"/>
            <a:ext cx="11430000" cy="402242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217920"/>
            <a:ext cx="114601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66666"/>
                </a:solidFill>
                <a:latin typeface="Arial"/>
              </a:defRPr>
            </a:pPr>
            <a:r>
              <a:t>Left: Threshold × Window heatmap  •  Right: Pardo check (best ≈ 2σ above mean)  •  H3 SUPPORTED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27432"/>
          </a:xfrm>
          <a:prstGeom prst="rect">
            <a:avLst/>
          </a:prstGeom>
          <a:solidFill>
            <a:srgbClr val="B7A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0116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rial"/>
              </a:defRPr>
            </a:pPr>
            <a:r>
              <a:t>Parameter Optimization: Sensitivity Analysis</a:t>
            </a:r>
          </a:p>
        </p:txBody>
      </p:sp>
      <p:pic>
        <p:nvPicPr>
          <p:cNvPr id="5" name="Picture 4" descr="fig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612880" cy="30413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217920"/>
            <a:ext cx="114601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66666"/>
                </a:solidFill>
                <a:latin typeface="Arial"/>
              </a:defRPr>
            </a:pPr>
            <a:r>
              <a:t>Flat = robust to choice  •  Sharp peak = overfit risk  •  Threshold is most sensitive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27432"/>
          </a:xfrm>
          <a:prstGeom prst="rect">
            <a:avLst/>
          </a:prstGeom>
          <a:solidFill>
            <a:srgbClr val="B7A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0116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rial"/>
              </a:defRPr>
            </a:pPr>
            <a:r>
              <a:t>Walk-Forward Analysis (Out-of-Sample)</a:t>
            </a:r>
          </a:p>
        </p:txBody>
      </p:sp>
      <p:pic>
        <p:nvPicPr>
          <p:cNvPr id="5" name="Picture 4" descr="fig_walkforw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6877242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217920"/>
            <a:ext cx="114601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66666"/>
                </a:solidFill>
                <a:latin typeface="Arial"/>
              </a:defRPr>
            </a:pPr>
            <a:r>
              <a:t>Most OOS windows positive  •  WF ratio 0.3-0.6  •  Parameter drift → regime dependence  •  H4 PARTIAL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27432"/>
          </a:xfrm>
          <a:prstGeom prst="rect">
            <a:avLst/>
          </a:prstGeom>
          <a:solidFill>
            <a:srgbClr val="B7A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0116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rial"/>
              </a:defRPr>
            </a:pPr>
            <a:r>
              <a:t>Overfitting Diagnostics</a:t>
            </a:r>
          </a:p>
        </p:txBody>
      </p:sp>
      <p:pic>
        <p:nvPicPr>
          <p:cNvPr id="5" name="Picture 4" descr="fig_bootstrap_shar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6583680" cy="288768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0058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4B2E83"/>
                </a:solidFill>
                <a:latin typeface="Arial"/>
              </a:defRPr>
            </a:pPr>
            <a:r>
              <a:t>Deflated Sharpe Ratio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1371600"/>
            <a:ext cx="4389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300">
                <a:solidFill>
                  <a:srgbClr val="2D2D2D"/>
                </a:solidFill>
                <a:latin typeface="Arial"/>
              </a:defRPr>
            </a:pPr>
            <a:r>
              <a:t>• Accounts for 120+ trials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300">
                <a:solidFill>
                  <a:srgbClr val="2D2D2D"/>
                </a:solidFill>
                <a:latin typeface="Arial"/>
              </a:defRPr>
            </a:pPr>
            <a:r>
              <a:t>• Adjusts for selection bias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300">
                <a:solidFill>
                  <a:srgbClr val="2D2D2D"/>
                </a:solidFill>
                <a:latin typeface="Arial"/>
              </a:defRPr>
            </a:pPr>
            <a:r>
              <a:t>• Some inflation expected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29260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4B2E83"/>
                </a:solidFill>
                <a:latin typeface="Arial"/>
              </a:defRPr>
            </a:pPr>
            <a:r>
              <a:t>Top-N Removal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3291840"/>
            <a:ext cx="4389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300">
                <a:solidFill>
                  <a:srgbClr val="2D2D2D"/>
                </a:solidFill>
                <a:latin typeface="Arial"/>
              </a:defRPr>
            </a:pPr>
            <a:r>
              <a:t>• Remove best 20 trades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300">
                <a:solidFill>
                  <a:srgbClr val="2D2D2D"/>
                </a:solidFill>
                <a:latin typeface="Arial"/>
              </a:defRPr>
            </a:pPr>
            <a:r>
              <a:t>• Still profitable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300">
                <a:solidFill>
                  <a:srgbClr val="2D2D2D"/>
                </a:solidFill>
                <a:latin typeface="Arial"/>
              </a:defRPr>
            </a:pPr>
            <a:r>
              <a:t>• Edge is distributed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47548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4B2E83"/>
                </a:solidFill>
                <a:latin typeface="Arial"/>
              </a:defRPr>
            </a:pPr>
            <a:r>
              <a:t>PBO Cross-Test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507492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Arial"/>
              </a:defRPr>
            </a:pPr>
            <a:r>
              <a:t>Half-sample params show moderate stability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27432"/>
          </a:xfrm>
          <a:prstGeom prst="rect">
            <a:avLst/>
          </a:prstGeom>
          <a:solidFill>
            <a:srgbClr val="B7A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0116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rial"/>
              </a:defRPr>
            </a:pPr>
            <a:r>
              <a:t>Extension: Cross-Asset Validation</a:t>
            </a:r>
          </a:p>
        </p:txBody>
      </p:sp>
      <p:pic>
        <p:nvPicPr>
          <p:cNvPr id="5" name="Picture 4" descr="fig_cross_asset_cor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5029200" cy="2485391"/>
          </a:xfrm>
          <a:prstGeom prst="rect">
            <a:avLst/>
          </a:prstGeom>
        </p:spPr>
      </p:pic>
      <p:pic>
        <p:nvPicPr>
          <p:cNvPr id="6" name="Picture 5" descr="fig_extension_equ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1005840"/>
            <a:ext cx="6217920" cy="20424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48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Arial"/>
              </a:defRPr>
            </a:pPr>
            <a:r>
              <a:t>BTC-ETH funding correlation ~0.7+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0" y="4754880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Arial"/>
              </a:defRPr>
            </a:pPr>
            <a:r>
              <a:t>ETH positive Calmar with BTC params (no re-fit)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5212080"/>
            <a:ext cx="11430000" cy="594360"/>
          </a:xfrm>
          <a:prstGeom prst="roundRect">
            <a:avLst/>
          </a:prstGeom>
          <a:solidFill>
            <a:srgbClr val="E8E3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534924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B2E83"/>
                </a:solidFill>
                <a:latin typeface="Arial"/>
              </a:defRPr>
            </a:pPr>
            <a:r>
              <a:t>Cross-asset validation: funding contrarian is a microstructure effect, not BTC-specific noise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27432"/>
          </a:xfrm>
          <a:prstGeom prst="rect">
            <a:avLst/>
          </a:prstGeom>
          <a:solidFill>
            <a:srgbClr val="B7A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0116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rial"/>
              </a:defRPr>
            </a:pPr>
            <a: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4B2E83"/>
                </a:solidFill>
                <a:latin typeface="Arial"/>
              </a:defRPr>
            </a:pPr>
            <a:r>
              <a:t>Key Findings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3657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300">
                <a:solidFill>
                  <a:srgbClr val="2D2D2D"/>
                </a:solidFill>
                <a:latin typeface="Arial"/>
              </a:defRPr>
            </a:pPr>
            <a:r>
              <a:t>• Funding contrarian effect is real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300">
                <a:solidFill>
                  <a:srgbClr val="2D2D2D"/>
                </a:solidFill>
                <a:latin typeface="Arial"/>
              </a:defRPr>
            </a:pPr>
            <a:r>
              <a:t>• Economic basis: crowding + margin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300">
                <a:solidFill>
                  <a:srgbClr val="2D2D2D"/>
                </a:solidFill>
                <a:latin typeface="Arial"/>
              </a:defRPr>
            </a:pPr>
            <a:r>
              <a:t>• IC significant at 24h horizon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300">
                <a:solidFill>
                  <a:srgbClr val="2D2D2D"/>
                </a:solidFill>
                <a:latin typeface="Arial"/>
              </a:defRPr>
            </a:pPr>
            <a:r>
              <a:t>• OOS positive (40-60% degradation)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300">
                <a:solidFill>
                  <a:srgbClr val="2D2D2D"/>
                </a:solidFill>
                <a:latin typeface="Arial"/>
              </a:defRPr>
            </a:pPr>
            <a:r>
              <a:t>• Cross-asset validated on ETH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0" y="10058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4B2E83"/>
                </a:solidFill>
                <a:latin typeface="Arial"/>
              </a:defRPr>
            </a:pPr>
            <a:r>
              <a:t>Backtest Results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1371600"/>
            <a:ext cx="3200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300">
                <a:solidFill>
                  <a:srgbClr val="2D2D2D"/>
                </a:solidFill>
                <a:latin typeface="Arial"/>
              </a:defRPr>
            </a:pPr>
            <a:r>
              <a:t>• Calmar: ~0.11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300">
                <a:solidFill>
                  <a:srgbClr val="2D2D2D"/>
                </a:solidFill>
                <a:latin typeface="Arial"/>
              </a:defRPr>
            </a:pPr>
            <a:r>
              <a:t>• Sharpe: ~0.77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300">
                <a:solidFill>
                  <a:srgbClr val="2D2D2D"/>
                </a:solidFill>
                <a:latin typeface="Arial"/>
              </a:defRPr>
            </a:pPr>
            <a:r>
              <a:t>• Max DD: ~14%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300">
                <a:solidFill>
                  <a:srgbClr val="2D2D2D"/>
                </a:solidFill>
                <a:latin typeface="Arial"/>
              </a:defRPr>
            </a:pPr>
            <a:r>
              <a:t>• Win Rate: ~54%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300">
                <a:solidFill>
                  <a:srgbClr val="2D2D2D"/>
                </a:solidFill>
                <a:latin typeface="Arial"/>
              </a:defRPr>
            </a:pPr>
            <a:r>
              <a:t>• Trades: ~125 (4 years)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10058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4B2E83"/>
                </a:solidFill>
                <a:latin typeface="Arial"/>
              </a:defRPr>
            </a:pPr>
            <a:r>
              <a:t>Hypothesis Results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1371600"/>
            <a:ext cx="3657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300">
                <a:solidFill>
                  <a:srgbClr val="2D2D2D"/>
                </a:solidFill>
                <a:latin typeface="Arial"/>
              </a:defRPr>
            </a:pPr>
            <a:r>
              <a:t>• H1: ✓ Supported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300">
                <a:solidFill>
                  <a:srgbClr val="2D2D2D"/>
                </a:solidFill>
                <a:latin typeface="Arial"/>
              </a:defRPr>
            </a:pPr>
            <a:r>
              <a:t>• H2: ~ Mixed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300">
                <a:solidFill>
                  <a:srgbClr val="2D2D2D"/>
                </a:solidFill>
                <a:latin typeface="Arial"/>
              </a:defRPr>
            </a:pPr>
            <a:r>
              <a:t>• H3: ✓ Supported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300">
                <a:solidFill>
                  <a:srgbClr val="2D2D2D"/>
                </a:solidFill>
                <a:latin typeface="Arial"/>
              </a:defRPr>
            </a:pPr>
            <a:r>
              <a:t>• H4: ~ Partial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8404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4B2E83"/>
                </a:solidFill>
                <a:latin typeface="Arial"/>
              </a:defRPr>
            </a:pPr>
            <a:r>
              <a:t>Risks &amp; Limitations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206240"/>
            <a:ext cx="11430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300">
                <a:solidFill>
                  <a:srgbClr val="2D2D2D"/>
                </a:solidFill>
                <a:latin typeface="Arial"/>
              </a:defRPr>
            </a:pPr>
            <a:r>
              <a:t>• Tail events: LUNA-style collapse where funding stays extreme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300">
                <a:solidFill>
                  <a:srgbClr val="2D2D2D"/>
                </a:solidFill>
                <a:latin typeface="Arial"/>
              </a:defRPr>
            </a:pPr>
            <a:r>
              <a:t>• Regime dependence: better in high-volatility periods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300">
                <a:solidFill>
                  <a:srgbClr val="2D2D2D"/>
                </a:solidFill>
                <a:latin typeface="Arial"/>
              </a:defRPr>
            </a:pPr>
            <a:r>
              <a:t>• Market structure shift post-FTX may reduce effectiveness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300">
                <a:solidFill>
                  <a:srgbClr val="2D2D2D"/>
                </a:solidFill>
                <a:latin typeface="Arial"/>
              </a:defRPr>
            </a:pPr>
            <a:r>
              <a:t>• Crowding risk if strategy becomes widely adopted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4B2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22960"/>
            <a:ext cx="12191695" cy="27432"/>
          </a:xfrm>
          <a:prstGeom prst="rect">
            <a:avLst/>
          </a:prstGeom>
          <a:solidFill>
            <a:srgbClr val="B7A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0116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rial"/>
              </a:defRPr>
            </a:pPr>
            <a: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11430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D2D2D"/>
                </a:solidFill>
                <a:latin typeface="Arial"/>
              </a:defRPr>
            </a:pPr>
            <a:r>
              <a:t>Bailey, D. H., &amp; López de Prado, M. (2014). The Deflated Sharpe Ratio: Correcting for</a:t>
            </a:r>
          </a:p>
          <a:p>
            <a:pPr>
              <a:defRPr sz="1400">
                <a:solidFill>
                  <a:srgbClr val="2D2D2D"/>
                </a:solidFill>
                <a:latin typeface="Arial"/>
              </a:defRPr>
            </a:pPr>
            <a:r>
              <a:t>    Selection Bias, Backtest Overfitting, and Non-Normality. Journal of Portfolio</a:t>
            </a:r>
          </a:p>
          <a:p>
            <a:pPr>
              <a:defRPr sz="1400">
                <a:solidFill>
                  <a:srgbClr val="2D2D2D"/>
                </a:solidFill>
                <a:latin typeface="Arial"/>
              </a:defRPr>
            </a:pPr>
            <a:r>
              <a:t>    Management, 40(5), 94-107.</a:t>
            </a:r>
          </a:p>
          <a:p>
            <a:pPr>
              <a:defRPr sz="1400">
                <a:solidFill>
                  <a:srgbClr val="2D2D2D"/>
                </a:solidFill>
                <a:latin typeface="Arial"/>
              </a:defRPr>
            </a:pPr>
          </a:p>
          <a:p>
            <a:pPr>
              <a:defRPr sz="1400">
                <a:solidFill>
                  <a:srgbClr val="2D2D2D"/>
                </a:solidFill>
                <a:latin typeface="Arial"/>
              </a:defRPr>
            </a:pPr>
            <a:r>
              <a:t>Brunnermeier, M. K., &amp; Pedersen, L. H. (2009). Market Liquidity and Funding Liquidity.</a:t>
            </a:r>
          </a:p>
          <a:p>
            <a:pPr>
              <a:defRPr sz="1400">
                <a:solidFill>
                  <a:srgbClr val="2D2D2D"/>
                </a:solidFill>
                <a:latin typeface="Arial"/>
              </a:defRPr>
            </a:pPr>
            <a:r>
              <a:t>    The Review of Financial Studies, 22(6), 2201-2238.</a:t>
            </a:r>
          </a:p>
          <a:p>
            <a:pPr>
              <a:defRPr sz="1400">
                <a:solidFill>
                  <a:srgbClr val="2D2D2D"/>
                </a:solidFill>
                <a:latin typeface="Arial"/>
              </a:defRPr>
            </a:pPr>
          </a:p>
          <a:p>
            <a:pPr>
              <a:defRPr sz="1400">
                <a:solidFill>
                  <a:srgbClr val="2D2D2D"/>
                </a:solidFill>
                <a:latin typeface="Arial"/>
              </a:defRPr>
            </a:pPr>
            <a:r>
              <a:t>Liu, Y., Tsyvinski, A., &amp; Wu, X. (2022). Common Risk Factors in Cryptocurrency.</a:t>
            </a:r>
          </a:p>
          <a:p>
            <a:pPr>
              <a:defRPr sz="1400">
                <a:solidFill>
                  <a:srgbClr val="2D2D2D"/>
                </a:solidFill>
                <a:latin typeface="Arial"/>
              </a:defRPr>
            </a:pPr>
            <a:r>
              <a:t>    The Journal of Finance, 77(2), 1133-1177.</a:t>
            </a:r>
          </a:p>
          <a:p>
            <a:pPr>
              <a:defRPr sz="1400">
                <a:solidFill>
                  <a:srgbClr val="2D2D2D"/>
                </a:solidFill>
                <a:latin typeface="Arial"/>
              </a:defRPr>
            </a:pPr>
          </a:p>
          <a:p>
            <a:pPr>
              <a:defRPr sz="1400">
                <a:solidFill>
                  <a:srgbClr val="2D2D2D"/>
                </a:solidFill>
                <a:latin typeface="Arial"/>
              </a:defRPr>
            </a:pPr>
            <a:r>
              <a:t>Pardo, R. (2008). The Evaluation and Optimization of Trading Strategies (2nd ed.).</a:t>
            </a:r>
          </a:p>
          <a:p>
            <a:pPr>
              <a:defRPr sz="1400">
                <a:solidFill>
                  <a:srgbClr val="2D2D2D"/>
                </a:solidFill>
                <a:latin typeface="Arial"/>
              </a:defRPr>
            </a:pPr>
            <a:r>
              <a:t>    John Wiley &amp; Sons.</a:t>
            </a:r>
          </a:p>
          <a:p>
            <a:pPr>
              <a:defRPr sz="1400">
                <a:solidFill>
                  <a:srgbClr val="2D2D2D"/>
                </a:solidFill>
                <a:latin typeface="Arial"/>
              </a:defRPr>
            </a:pPr>
          </a:p>
          <a:p>
            <a:pPr>
              <a:defRPr sz="1400">
                <a:solidFill>
                  <a:srgbClr val="2D2D2D"/>
                </a:solidFill>
                <a:latin typeface="Arial"/>
              </a:defRPr>
            </a:pPr>
            <a:r>
              <a:t>Shleifer, A., &amp; Vishny, R. W. (1997). The Limits of Arbitrage.</a:t>
            </a:r>
          </a:p>
          <a:p>
            <a:pPr>
              <a:defRPr sz="1400">
                <a:solidFill>
                  <a:srgbClr val="2D2D2D"/>
                </a:solidFill>
                <a:latin typeface="Arial"/>
              </a:defRPr>
            </a:pPr>
            <a:r>
              <a:t>    The Journal of Finance, 52(1), 35-55.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